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00A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</a:rPr>
              <a:t>基于YOLOv12的无人机俯视交通流感知
与道路拥堵智能研判系统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00A0D2"/>
                </a:solidFill>
                <a:latin typeface="微软雅黑"/>
              </a:rPr>
              <a:t>Intelligent Road Congestion Assessment System for UAV Top-Down Traffic Flow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微软雅黑"/>
              </a:rPr>
              <a:t>汇报人：（作者姓名）</a:t>
            </a:r>
          </a:p>
          <a:p>
            <a:pPr algn="ctr"/>
            <a:r>
              <a:rPr sz="1600" b="0">
                <a:solidFill>
                  <a:srgbClr val="64748B"/>
                </a:solidFill>
                <a:latin typeface="微软雅黑"/>
              </a:rPr>
              <a:t>单位：（单位名称）</a:t>
            </a:r>
          </a:p>
          <a:p>
            <a:pPr algn="ctr"/>
            <a:r>
              <a:rPr sz="1600" b="0">
                <a:solidFill>
                  <a:srgbClr val="64748B"/>
                </a:solidFill>
                <a:latin typeface="微软雅黑"/>
              </a:rPr>
              <a:t>成果类型：夏令营项目展示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01  研究背景与意义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02  系统总体设计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03  YOLOv12 车辆检测与跟踪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04  道路拥堵指数算法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05  Web 系统实现与展示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06  实验结果与分析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D3748"/>
                </a:solidFill>
                <a:latin typeface="微软雅黑"/>
              </a:rPr>
              <a:t>07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01  研究背景与意义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4882"/>
                </a:solidFill>
                <a:latin typeface="微软雅黑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4882"/>
                </a:solidFill>
                <a:latin typeface="微软雅黑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城市化加速，交通拥堵制约出行效率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传统方法依赖路侧检测器 / 浮动车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布设成本高，难以快速机动部署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无人机俯视：80 m、-90° 垂直俯拍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可快速覆盖大范围路网，机动灵活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实时研判道路运行状态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区分畅通 / 排队 / 走走停停 / 路口等灯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支撑交通规划、信号控制与出行诱导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面向夏令营：可演示、可调试、可导出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问题与挑战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目标尺度小：UAV 俯视下车辆仅占少量像素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检测框抖动大：逐帧 bbox 波动影响速度/车距估计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路口多队列并存：跨队列大间距会虚增 σdist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需实时运行：消费级 GPU + Web 端同步展示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需可解释：答辩时能说明「Ct 为何升高/降低」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02  系统总体设计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4882"/>
                </a:solidFill>
                <a:latin typeface="微软雅黑"/>
              </a:rPr>
              <a:t>应用层    </a:t>
            </a:r>
            <a:r>
              <a:rPr sz="1800" b="0">
                <a:solidFill>
                  <a:srgbClr val="2D3748"/>
                </a:solidFill>
                <a:latin typeface="微软雅黑"/>
              </a:rPr>
              <a:t>FastAPI · MJPEG · WebSocket · 90s 曲线 · CSV 导出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2316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4882"/>
                </a:solidFill>
                <a:latin typeface="微软雅黑"/>
              </a:rPr>
              <a:t>算法层    </a:t>
            </a:r>
            <a:r>
              <a:rPr sz="1800" b="0">
                <a:solidFill>
                  <a:srgbClr val="2D3748"/>
                </a:solidFill>
                <a:latin typeface="微软雅黑"/>
              </a:rPr>
              <a:t>CongestionCalculator · 车队切分 · 连续状态机 · 抗抖动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4882"/>
                </a:solidFill>
                <a:latin typeface="微软雅黑"/>
              </a:rPr>
              <a:t>数据层    </a:t>
            </a:r>
            <a:r>
              <a:rPr sz="1800" b="0">
                <a:solidFill>
                  <a:srgbClr val="2D3748"/>
                </a:solidFill>
                <a:latin typeface="微软雅黑"/>
              </a:rPr>
              <a:t>DataCleaner · EMA 平滑 · 3s 滑动窗口 · 30 FPS 时基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26279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4882"/>
                </a:solidFill>
                <a:latin typeface="微软雅黑"/>
              </a:rPr>
              <a:t>感知层    </a:t>
            </a:r>
            <a:r>
              <a:rPr sz="1800" b="0">
                <a:solidFill>
                  <a:srgbClr val="2D3748"/>
                </a:solidFill>
                <a:latin typeface="微软雅黑"/>
              </a:rPr>
              <a:t>YOLOv12 检测 · ByteTrack 跟踪 · ONNX + DirectML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数据流程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D3748"/>
                </a:solidFill>
                <a:latin typeface="微软雅黑"/>
              </a:rPr>
              <a:t>UAV 俯视视频
    ↓
YOLOv12 检测 + ByteTrack 跟踪（带 track_id）
    ↓
DataCleaner：EMA 平滑 · 死区过滤 · 3s 窗口
    ↓
CongestionCalculator：Vavg · σdist · Ct · 场景标签
    ↓
Web 实时展示 + 25 列 CSV 导出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03  YOLOv12 两阶段迁移学习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标注：X-AnyLabeling 矩形框标注自采集 UAV 视频帧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阶段一：VisDrone 预训练权重 → 域适应（1280，50 epoch）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阶段二：阶段一 best → 自标注 merged_vehicle 微调（40 epoch）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策略：通用 UAV 检测能力 + 项目场景定制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部署：导出 ONNX · 隔帧推理（每 2 帧 1 次）· DirectML 加速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48463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检测性能（验证集）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4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882"/>
                </a:solidFill>
                <a:latin typeface="微软雅黑"/>
              </a:rPr>
              <a:t>VisDrone 域适应
</a:t>
            </a:r>
            <a:r>
              <a:rPr sz="2800" b="1">
                <a:solidFill>
                  <a:srgbClr val="00A0D2"/>
                </a:solidFill>
                <a:latin typeface="微软雅黑"/>
              </a:rPr>
              <a:t>mAP@0.5  91.2%
</a:t>
            </a:r>
            <a:r>
              <a:rPr sz="1400" b="0">
                <a:solidFill>
                  <a:srgbClr val="64748B"/>
                </a:solidFill>
                <a:latin typeface="微软雅黑"/>
              </a:rPr>
              <a:t>P 94.5%  ·  R 86.3%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4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882"/>
                </a:solidFill>
                <a:latin typeface="微软雅黑"/>
              </a:rPr>
              <a:t>X-AnyLabeling 微调
</a:t>
            </a:r>
            <a:r>
              <a:rPr sz="2800" b="1">
                <a:solidFill>
                  <a:srgbClr val="00A0D2"/>
                </a:solidFill>
                <a:latin typeface="微软雅黑"/>
              </a:rPr>
              <a:t>mAP@0.5  97.7%
</a:t>
            </a:r>
            <a:r>
              <a:rPr sz="1400" b="0">
                <a:solidFill>
                  <a:srgbClr val="64748B"/>
                </a:solidFill>
                <a:latin typeface="微软雅黑"/>
              </a:rPr>
              <a:t>P 95.3%  ·  R 95.9%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017520"/>
            <a:ext cx="8046720" cy="6035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微软雅黑"/>
              </a:rPr>
              <a:t>图：YOLOv12 微调后验证集混淆矩阵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04  道路拥堵指数算法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D3748"/>
                </a:solidFill>
                <a:latin typeface="微软雅黑"/>
              </a:rPr>
              <a:t>特征：Vavg（平均速度）· Dt（帧车距）· σdist（车距波动）· rstop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D3748"/>
                </a:solidFill>
                <a:latin typeface="微软雅黑"/>
              </a:rPr>
              <a:t>车队切分：GapThr = k·(Li+Li+1)/2，k=1.5，仅在队内统计车距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D3748"/>
                </a:solidFill>
                <a:latin typeface="微软雅黑"/>
              </a:rPr>
              <a:t>指数合成：Ct = 0.67·Sspeed + 0.33·Sfluct（0—100 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D3748"/>
                </a:solidFill>
                <a:latin typeface="微软雅黑"/>
              </a:rPr>
              <a:t>判定：Ct &lt; 60 畅通  ·  Ct ≥ 60 拥堵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D3748"/>
                </a:solidFill>
                <a:latin typeface="微软雅黑"/>
              </a:rPr>
              <a:t>抗抖动：Hold 挂起 · Dist Warmup · 时间基 EMA · 速率限幅 · Episode Reset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典型场景判别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场景</a:t>
                      </a:r>
                    </a:p>
                  </a:txBody>
                  <a:tcPr>
                    <a:solidFill>
                      <a:srgbClr val="004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速度特征</a:t>
                      </a:r>
                    </a:p>
                  </a:txBody>
                  <a:tcPr>
                    <a:solidFill>
                      <a:srgbClr val="004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波动特征</a:t>
                      </a:r>
                    </a:p>
                  </a:txBody>
                  <a:tcPr>
                    <a:solidFill>
                      <a:srgbClr val="004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Ct 区间</a:t>
                      </a:r>
                    </a:p>
                  </a:txBody>
                  <a:tcPr>
                    <a:solidFill>
                      <a:srgbClr val="004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标签</a:t>
                      </a:r>
                    </a:p>
                  </a:txBody>
                  <a:tcPr>
                    <a:solidFill>
                      <a:srgbClr val="0048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A 畅通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Vavg≥Vhigh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σdist 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&lt;60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畅通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B 有序等待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低速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σdist≤σlow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20—40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有序等待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C 走走停停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低速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σdist≥σhigh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≥60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拥堵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E 路口等灯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静动混合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静组波动小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≤30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3748"/>
                          </a:solidFill>
                          <a:latin typeface="微软雅黑"/>
                        </a:rPr>
                        <a:t>路口等灯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微软雅黑"/>
              </a:rPr>
              <a:t>• 实测示例（test.MP4）：17 辆车 · Ct=38.5 · σdist=1.75 → 判定畅通</a:t>
            </a:r>
          </a:p>
          <a:p>
            <a:r>
              <a:rPr sz="1800" b="0">
                <a:solidFill>
                  <a:srgbClr val="2D3748"/>
                </a:solidFill>
                <a:latin typeface="微软雅黑"/>
              </a:rPr>
              <a:t>• B/C 区间连续映射，σdist 从 σlow→σhigh 对应 20→80 分，避免阈值跳崖</a:t>
            </a:r>
          </a:p>
          <a:p>
            <a:r>
              <a:rPr sz="1800" b="0">
                <a:solidFill>
                  <a:srgbClr val="2D3748"/>
                </a:solidFill>
                <a:latin typeface="微软雅黑"/>
              </a:rPr>
              <a:t>• 路口场景 Ct 封顶约 30 分，降低混行误判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05  Web 系统展示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D3748"/>
                </a:solidFill>
                <a:latin typeface="微软雅黑"/>
              </a:rPr>
              <a:t>FastAPI 后端 · 生产者-消费者多线程 · 帧队列深度 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D3748"/>
                </a:solidFill>
                <a:latin typeface="微软雅黑"/>
              </a:rPr>
              <a:t>MJPEG 视频流 + WebSocket 实时指标推送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D3748"/>
                </a:solidFill>
                <a:latin typeface="微软雅黑"/>
              </a:rPr>
              <a:t>四指标卡片：Ct · Vavg · σdist · 车辆数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D3748"/>
                </a:solidFill>
                <a:latin typeface="微软雅黑"/>
              </a:rPr>
              <a:t>90 s 滚动曲线 · 60 分阈值虚线 · 参数热更新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D3748"/>
                </a:solidFill>
                <a:latin typeface="微软雅黑"/>
              </a:rPr>
              <a:t>逐帧调试模式 + 25 列 CSV 全量导出</a:t>
            </a:r>
          </a:p>
        </p:txBody>
      </p:sp>
      <p:pic>
        <p:nvPicPr>
          <p:cNvPr id="4" name="Picture 3" descr="system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217920" cy="3272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06  实验结果与分析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4882"/>
                </a:solidFill>
                <a:latin typeface="微软雅黑"/>
              </a:rPr>
              <a:t>实验环境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4882"/>
                </a:solidFill>
                <a:latin typeface="微软雅黑"/>
              </a:rPr>
              <a:t>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平台：Windows · AMD GPU · DirectML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视频：自采集 UAV 俯视场景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场景：直行 / 红灯排队 / 走走停停 / 路口混行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微调 mAP@0.5：97.7%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Web 端 FPS ≈ 17（隔帧推理）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WebSocket 延迟 &lt; 帧间隔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Ct 可区分四典型场景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CSV 含 raw 分、Dt、Platoons 等 25 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4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07 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完成 YOLOv12 两阶段检测 + ByteTrack + 拥堵指数 + Web 系统集成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贡献：分层迁移训练 · 可解释 Ct 模型 · 可演示工程平台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局限：像素速度（未三维标定）· 单路分析为主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D3748"/>
                </a:solidFill>
                <a:latin typeface="微软雅黑"/>
              </a:rPr>
              <a:t>展望：MOTA 跟踪指标 · 多路融合 · 与宏观指数融合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谢谢聆听  ·  欢迎提问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A0D2"/>
                </a:solidFill>
                <a:latin typeface="微软雅黑"/>
              </a:rPr>
              <a:t>基于YOLOv12的无人机俯视交通流感知与道路拥堵智能研判系统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